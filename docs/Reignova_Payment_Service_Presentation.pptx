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embeddedFontLst>
    <p:embeddedFont>
      <p:font typeface="Montserrat" pitchFamily="34" charset="0"/>
      <p:regular r:id="rId17"/>
      <p:bold r:id="rId18"/>
    </p:embeddedFont>
    <p:embeddedFont>
      <p:font typeface="IBM Plex Mono" pitchFamily="49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Picture 23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2468880"/>
            <a:ext cx="1965960" cy="19659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680960" y="1005840"/>
            <a:ext cx="2926080" cy="4297680"/>
          </a:xfrm>
          <a:prstGeom prst="line">
            <a:avLst/>
          </a:prstGeom>
          <a:ln w="1016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92440" y="1005840"/>
            <a:ext cx="2514600" cy="3977640"/>
          </a:xfrm>
          <a:prstGeom prst="line">
            <a:avLst/>
          </a:prstGeom>
          <a:ln w="1016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0" y="1005840"/>
            <a:ext cx="2103120" cy="3657600"/>
          </a:xfrm>
          <a:prstGeom prst="line">
            <a:avLst/>
          </a:prstGeom>
          <a:ln w="1016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915400" y="1005840"/>
            <a:ext cx="1691640" cy="3337560"/>
          </a:xfrm>
          <a:prstGeom prst="line">
            <a:avLst/>
          </a:prstGeom>
          <a:ln w="1016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0" y="1005840"/>
            <a:ext cx="1280160" cy="3017520"/>
          </a:xfrm>
          <a:prstGeom prst="line">
            <a:avLst/>
          </a:prstGeom>
          <a:ln w="1016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1005840"/>
            <a:ext cx="868680" cy="2697480"/>
          </a:xfrm>
          <a:prstGeom prst="line">
            <a:avLst/>
          </a:prstGeom>
          <a:ln w="1016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49840" y="1005840"/>
            <a:ext cx="457200" cy="2377440"/>
          </a:xfrm>
          <a:prstGeom prst="line">
            <a:avLst/>
          </a:prstGeom>
          <a:ln w="1016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137160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219456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0" y="118872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411480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0" y="493776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512064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960120"/>
            <a:ext cx="214884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960120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EXECUTIVE TECHNICAL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417320"/>
            <a:ext cx="6583680" cy="1508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900" b="1">
                <a:solidFill>
                  <a:srgbClr val="F7F5F0"/>
                </a:solidFill>
                <a:latin typeface="Montserrat"/>
              </a:rPr>
              <a:t>REIGNOVA
PAYMENT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127248"/>
            <a:ext cx="594360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0">
                <a:solidFill>
                  <a:srgbClr val="FFB74D"/>
                </a:solidFill>
                <a:latin typeface="Montserrat"/>
              </a:rPr>
              <a:t>Enterprise payment infrastructure &amp;
PawaPay V2 mobile gateway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069080"/>
            <a:ext cx="557784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AEB7C2"/>
                </a:solidFill>
                <a:latin typeface="Montserrat"/>
              </a:rPr>
              <a:t>A secure, branded orchestration layer for Sub-Saharan Africa—supporting direct deposits, hosted checkout, payouts, refunds, and signed webhooks.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4924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349240"/>
            <a:ext cx="2011680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F7F5F0"/>
                </a:solidFill>
                <a:latin typeface="Montserrat"/>
              </a:rPr>
              <a:t>Q3 2026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6035040"/>
            <a:ext cx="2395728" cy="2377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F7F5F0"/>
                </a:solidFill>
                <a:latin typeface="Montserrat"/>
              </a:rPr>
              <a:t>REIGNOVA TECHNOLOGIES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3504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The technology partner behind smarter African businesses.</a:t>
            </a:r>
          </a:p>
        </p:txBody>
      </p:sp>
      <p:pic>
        <p:nvPicPr>
          <p:cNvPr id="26" name="Picture 25" descr="mark_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598932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Business Need &amp; Strategic Objectives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2/10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3493008" cy="315468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457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3A221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2971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FRAGMENTED TELCO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07792"/>
            <a:ext cx="2971800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Unified REST abstraction reduces integration debt and operator-specific maintenance.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Integration time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627632"/>
            <a:ext cx="3493008" cy="315468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874519"/>
            <a:ext cx="457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3A221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331720"/>
            <a:ext cx="2971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SECURITY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07792"/>
            <a:ext cx="2971800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Centralized key hashing, isolated secrets, rate limiting, and signed callbacks.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4160520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4160520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Risk controls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1627632"/>
            <a:ext cx="3493008" cy="315468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1874519"/>
            <a:ext cx="457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3A221"/>
                </a:solidFill>
                <a:latin typeface="Montserra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331720"/>
            <a:ext cx="2971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907792"/>
            <a:ext cx="2971800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Branded hosted checkout with live status updates and zero layout shift.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4160520"/>
            <a:ext cx="132588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4160520"/>
            <a:ext cx="132588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Conversion focus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6636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321808"/>
            <a:ext cx="1463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0F1A25"/>
                </a:solidFill>
                <a:latin typeface="Montserrat"/>
              </a:rPr>
              <a:t>STRATEGIC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285232"/>
            <a:ext cx="8823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0F1A25"/>
                </a:solidFill>
                <a:latin typeface="Montserrat"/>
              </a:rPr>
              <a:t>Merchant integration time target: from weeks to under 30 minutes with drop-in Hosted Checkout links.</a:t>
            </a:r>
          </a:p>
        </p:txBody>
      </p:sp>
      <p:pic>
        <p:nvPicPr>
          <p:cNvPr id="30" name="Picture 29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Decoupled Platform 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3/10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746504"/>
            <a:ext cx="109728" cy="420624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0992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3A221"/>
                </a:solidFill>
                <a:latin typeface="Montserrat"/>
              </a:rPr>
              <a:t>CLIENT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91640"/>
            <a:ext cx="438912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ReignovaEvents • SaaS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09928"/>
            <a:ext cx="32918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AEB7C2"/>
                </a:solidFill>
                <a:latin typeface="IBM Plex Mono"/>
              </a:rPr>
              <a:t>Bearer pk_live_…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313432"/>
            <a:ext cx="0" cy="274320"/>
          </a:xfrm>
          <a:prstGeom prst="line">
            <a:avLst/>
          </a:prstGeom>
          <a:ln w="19050">
            <a:solidFill>
              <a:srgbClr val="FFB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587752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2734056"/>
            <a:ext cx="109728" cy="420624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697480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3A221"/>
                </a:solidFill>
                <a:latin typeface="Montserrat"/>
              </a:rPr>
              <a:t>WEB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679192"/>
            <a:ext cx="438912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Next.js 14 Hosted 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697480"/>
            <a:ext cx="32918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AEB7C2"/>
                </a:solidFill>
                <a:latin typeface="IBM Plex Mono"/>
              </a:rPr>
              <a:t>Public session token cs_sec_…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300984"/>
            <a:ext cx="0" cy="274320"/>
          </a:xfrm>
          <a:prstGeom prst="line">
            <a:avLst/>
          </a:prstGeom>
          <a:ln w="19050">
            <a:solidFill>
              <a:srgbClr val="FFB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3575304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3721608"/>
            <a:ext cx="109728" cy="420624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3685032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3A221"/>
                </a:solidFill>
                <a:latin typeface="Montserrat"/>
              </a:rPr>
              <a:t>CORE API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666744"/>
            <a:ext cx="438912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F7F5F0"/>
                </a:solidFill>
                <a:latin typeface="Montserrat"/>
              </a:rPr>
              <a:t>Express.js • TypeScript • Zod • Sequelize •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685032"/>
            <a:ext cx="32918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AEB7C2"/>
                </a:solidFill>
                <a:latin typeface="Montserrat"/>
              </a:rPr>
              <a:t>Auth • idempotency • payment APIs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4288536"/>
            <a:ext cx="0" cy="274320"/>
          </a:xfrm>
          <a:prstGeom prst="line">
            <a:avLst/>
          </a:prstGeom>
          <a:ln w="19050">
            <a:solidFill>
              <a:srgbClr val="FFB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4562856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4709160"/>
            <a:ext cx="109728" cy="420624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672584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3A221"/>
                </a:solidFill>
                <a:latin typeface="Montserrat"/>
              </a:rPr>
              <a:t>INTEGRATION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654296"/>
            <a:ext cx="438912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PawaPay V2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672584"/>
            <a:ext cx="32918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AEB7C2"/>
                </a:solidFill>
                <a:latin typeface="Montserrat"/>
              </a:rPr>
              <a:t>Provider prediction • signatures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5715000"/>
            <a:ext cx="6583680" cy="256032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572414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MOBILE MONEY OPERATORS: VODACOM • AIRTEL • TIGO/YAS • HALOTEL</a:t>
            </a:r>
          </a:p>
        </p:txBody>
      </p:sp>
      <p:pic>
        <p:nvPicPr>
          <p:cNvPr id="34" name="Picture 33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PawaPay V2 Mobile Gateway Integration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5166360" cy="932688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2286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Montserrat"/>
              </a:rPr>
              <a:t>VODACOM_M-PESA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1645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3A221"/>
                </a:solidFill>
                <a:latin typeface="Montserrat"/>
              </a:rPr>
              <a:t>VODACOM_TZA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39112"/>
            <a:ext cx="28803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AEB7C2"/>
                </a:solidFill>
                <a:latin typeface="Montserrat"/>
              </a:rPr>
              <a:t>25574 • 25575 • 25576 • 25577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166360" cy="932688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2286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Montserrat"/>
              </a:rPr>
              <a:t>AIRTEL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39112"/>
            <a:ext cx="1645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3A221"/>
                </a:solidFill>
                <a:latin typeface="Montserrat"/>
              </a:rPr>
              <a:t>AIRTEL_TZA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39112"/>
            <a:ext cx="28803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AEB7C2"/>
                </a:solidFill>
                <a:latin typeface="Montserrat"/>
              </a:rPr>
              <a:t>25578 • 25568 • 25569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34640"/>
            <a:ext cx="5166360" cy="932688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90088"/>
            <a:ext cx="2286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Montserrat"/>
              </a:rPr>
              <a:t>TIGO PESA / YAS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73552"/>
            <a:ext cx="1645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3A221"/>
                </a:solidFill>
                <a:latin typeface="Montserrat"/>
              </a:rPr>
              <a:t>TIGO_TZA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273552"/>
            <a:ext cx="28803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AEB7C2"/>
                </a:solidFill>
                <a:latin typeface="Montserrat"/>
              </a:rPr>
              <a:t>25571 • 25565 • 25567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34640"/>
            <a:ext cx="5166360" cy="932688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90088"/>
            <a:ext cx="2286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Montserrat"/>
              </a:rPr>
              <a:t>HALOTEL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73552"/>
            <a:ext cx="1645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3A221"/>
                </a:solidFill>
                <a:latin typeface="Montserrat"/>
              </a:rPr>
              <a:t>HALOTEL_TZA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273552"/>
            <a:ext cx="28803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AEB7C2"/>
                </a:solidFill>
                <a:latin typeface="Montserrat"/>
              </a:rPr>
              <a:t>25562 • 25561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25196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480560"/>
            <a:ext cx="5486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FB74D"/>
                </a:solidFill>
                <a:latin typeface="Montserrat"/>
              </a:rPr>
              <a:t>NORMALIZATION &amp;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28032"/>
            <a:ext cx="10058400" cy="50292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155448" indent="-155448">
              <a:buChar char="•"/>
              <a:spcAft>
                <a:spcPts val="200"/>
              </a:spcAft>
              <a:defRPr sz="11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Zero-decimal TZS formatting for PawaPay V2</a:t>
            </a:r>
          </a:p>
          <a:p>
            <a:pPr marL="155448" indent="-155448">
              <a:buChar char="•"/>
              <a:spcAft>
                <a:spcPts val="200"/>
              </a:spcAft>
              <a:defRPr sz="11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Provider auto-prediction via API or national prefix logic</a:t>
            </a:r>
          </a:p>
          <a:p>
            <a:pPr marL="155448" indent="-155448">
              <a:buChar char="•"/>
              <a:spcAft>
                <a:spcPts val="200"/>
              </a:spcAft>
              <a:defRPr sz="11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Phone normalization: national, E.164, and raw MSISDN</a:t>
            </a:r>
          </a:p>
        </p:txBody>
      </p:sp>
      <p:pic>
        <p:nvPicPr>
          <p:cNvPr id="28" name="Picture 27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Dual Payment Modes — Direct &amp; Hosted Checkout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5/10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5212080" cy="425196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74519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MODE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F7F5F0"/>
                </a:solidFill>
                <a:latin typeface="Montserrat"/>
              </a:rPr>
              <a:t>Direct Mobile Money Deposit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FB74D"/>
                </a:solidFill>
                <a:latin typeface="IBM Plex Mono"/>
              </a:rPr>
              <a:t>POST /api/v1/payments/deposit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10128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0128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00984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Merchant sends amount, phone, provider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31336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31336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22192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Service dispatches to PawaPay V2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525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5254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43400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Customer receives USSD PIN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7375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864608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Returns 202 ACCEPTED + depositId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00200"/>
            <a:ext cx="5212080" cy="425196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1874519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874519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MODE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3172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F7F5F0"/>
                </a:solidFill>
                <a:latin typeface="Montserrat"/>
              </a:rPr>
              <a:t>Reignova Hosted Checkout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788920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FB74D"/>
                </a:solidFill>
                <a:latin typeface="IBM Plex Mono"/>
              </a:rPr>
              <a:t>POST /api/v1/checkouts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3310128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310128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300984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Merchant creates session + checkoutUrl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3831336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831336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22192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Customer opens responsive checkout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4352544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35254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343400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Operator selection + live status polling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4873752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87375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864608"/>
            <a:ext cx="4069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AEB7C2"/>
                </a:solidFill>
                <a:latin typeface="Montserrat"/>
              </a:rPr>
              <a:t>Redirects to successUrl or cancelUrl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6062472"/>
            <a:ext cx="1828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3A221"/>
                </a:solidFill>
                <a:latin typeface="Montserrat"/>
              </a:rPr>
              <a:t>BACKEND-FIRST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062472"/>
            <a:ext cx="23774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FB74D"/>
                </a:solidFill>
                <a:latin typeface="Montserrat"/>
              </a:rPr>
              <a:t>WEB-FIRST EXPERIENCE</a:t>
            </a:r>
          </a:p>
        </p:txBody>
      </p:sp>
      <p:pic>
        <p:nvPicPr>
          <p:cNvPr id="45" name="Picture 44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Payouts, Refunds &amp; Digital Receipt Engine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6/10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493008" cy="35204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B2C PAYOUTS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2971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FFB74D"/>
                </a:solidFill>
                <a:latin typeface="IBM Plex Mono"/>
              </a:rPr>
              <a:t>POST /api/v1/payouts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29718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Vendor disbursements, prize payouts, ticket refunds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977639"/>
            <a:ext cx="3017520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25196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F7F5F0"/>
                </a:solidFill>
                <a:latin typeface="Montserrat"/>
              </a:rPr>
              <a:t>Direct wallet credit • provider auto-detect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691640"/>
            <a:ext cx="3493008" cy="35204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993392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LINKED REFUNDS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487168"/>
            <a:ext cx="2971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FFB74D"/>
                </a:solidFill>
                <a:latin typeface="IBM Plex Mono"/>
              </a:rPr>
              <a:t>POST /api/v1/refunds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063240"/>
            <a:ext cx="29718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Event cancellations and customer order refunds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45152" y="3977639"/>
            <a:ext cx="3017519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45152" y="425196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F7F5F0"/>
                </a:solidFill>
                <a:latin typeface="Montserrat"/>
              </a:rPr>
              <a:t>Full or partial amount linked to depositId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1691640"/>
            <a:ext cx="3493008" cy="35204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1993392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DIGITAL RECEIPTS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487168"/>
            <a:ext cx="2971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FFB74D"/>
                </a:solidFill>
                <a:latin typeface="IBM Plex Mono"/>
              </a:rPr>
              <a:t>GET /checkouts/public/:token/receipt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063240"/>
            <a:ext cx="29718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Branded HTML receipt generation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67344" y="3977639"/>
            <a:ext cx="3017519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67344" y="425196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F7F5F0"/>
                </a:solidFill>
                <a:latin typeface="Montserrat"/>
              </a:rPr>
              <a:t>Automated customer email via Resend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806440"/>
            <a:ext cx="66751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815583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ONE ORCHESTRATION LAYER  »  MULTIPLE MONEY MOVEMENT FLOWS</a:t>
            </a:r>
          </a:p>
        </p:txBody>
      </p:sp>
      <p:pic>
        <p:nvPicPr>
          <p:cNvPr id="29" name="Picture 28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Security &amp; Reliability Infrastructure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7/10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493008" cy="34290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99339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100" b="1">
                <a:solidFill>
                  <a:srgbClr val="0F1A25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RFC-9421 WEBHOOKS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9718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Validates Signature, Signature-Input, and Content-Digest headers.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FB74D"/>
                </a:solidFill>
                <a:latin typeface="Montserrat"/>
              </a:rPr>
              <a:t>Public key cache • payload integrity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691640"/>
            <a:ext cx="3493008" cy="34290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5152" y="199339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993392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100" b="1">
                <a:solidFill>
                  <a:srgbClr val="0F1A25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65176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IDEMPOTENCY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200400"/>
            <a:ext cx="29718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Requires Idempotency-Key on POST requests and replays cached responses.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48056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3A221"/>
                </a:solidFill>
                <a:latin typeface="Montserrat"/>
              </a:rPr>
              <a:t>Prevents duplicate charges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1691640"/>
            <a:ext cx="3493008" cy="34290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67344" y="199339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CE4BE"/>
          </a:solidFill>
          <a:ln>
            <a:solidFill>
              <a:srgbClr val="FCE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1993392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100" b="1">
                <a:solidFill>
                  <a:srgbClr val="0F1A25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65176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RETRY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200400"/>
            <a:ext cx="29718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AEB7C2"/>
                </a:solidFill>
                <a:latin typeface="Montserrat"/>
              </a:rPr>
              <a:t>Client webhook delivery with exponential backoff and complete logging.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448056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FB74D"/>
                </a:solidFill>
                <a:latin typeface="Montserrat"/>
              </a:rPr>
              <a:t>Up to 5 retry attempts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532120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69280"/>
            <a:ext cx="105156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1">
                <a:solidFill>
                  <a:srgbClr val="F7F5F0"/>
                </a:solidFill>
                <a:latin typeface="IBM Plex Mono"/>
              </a:rPr>
              <a:t>PUBLIC KEY SOURCE: /public-key/http   •   IN-MEMORY CACHE TTL: 1 HOUR</a:t>
            </a:r>
          </a:p>
        </p:txBody>
      </p:sp>
      <p:pic>
        <p:nvPicPr>
          <p:cNvPr id="29" name="Picture 28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Admin Portal &amp; Developer Experience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8/10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493008" cy="361188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3A221"/>
                </a:solidFill>
                <a:latin typeface="Montserrat"/>
              </a:rPr>
              <a:t>ADMIN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971800" cy="164592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Real-time transaction volume, success rate, and telco distribution</a:t>
            </a:r>
          </a:p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Merchant API key provisioning and rotation</a:t>
            </a:r>
          </a:p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Audit traces and manual refunds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11887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OPERATIONAL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691640"/>
            <a:ext cx="3493008" cy="361188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11680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3A221"/>
                </a:solidFill>
                <a:latin typeface="Montserrat"/>
              </a:rPr>
              <a:t>OPENAPI &amp; POSTMAN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606040"/>
            <a:ext cx="2971800" cy="164592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OpenAPI 3.0 definition at docs/openapi.yaml</a:t>
            </a:r>
          </a:p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Preconfigured environment and request payloads</a:t>
            </a:r>
          </a:p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Self-service integration for client developers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4800600"/>
            <a:ext cx="11887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4800600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OPERATIONAL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691640"/>
            <a:ext cx="3493008" cy="361188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011680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3A221"/>
                </a:solidFill>
                <a:latin typeface="Montserrat"/>
              </a:rPr>
              <a:t>LOCAL DEV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606040"/>
            <a:ext cx="2971800" cy="164592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/simulate-approval and /simulate-timeout</a:t>
            </a:r>
          </a:p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Test handset approval and timeout flows</a:t>
            </a:r>
          </a:p>
          <a:p>
            <a:pPr marL="155448" indent="-155448">
              <a:buChar char="•"/>
              <a:spcAft>
                <a:spcPts val="800"/>
              </a:spcAft>
              <a:defRPr sz="1200">
                <a:solidFill>
                  <a:srgbClr val="AEB7C2"/>
                </a:solidFill>
                <a:latin typeface="Montserrat"/>
              </a:defRPr>
            </a:pPr>
            <a:r>
              <a:rPr>
                <a:solidFill/>
              </a:rPr>
              <a:t>Avoid real sandbox funds and USSD waiting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67344" y="4800600"/>
            <a:ext cx="11887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4800600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OPERATIONAL</a:t>
            </a:r>
          </a:p>
        </p:txBody>
      </p:sp>
      <p:pic>
        <p:nvPicPr>
          <p:cNvPr id="24" name="Picture 23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Quality Assurance &amp; Verification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9/10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4592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828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3A221"/>
                </a:solidFill>
                <a:latin typeface="Montserrat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01952"/>
            <a:ext cx="2697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F7F5F0"/>
                </a:solidFill>
                <a:latin typeface="Montserrat"/>
              </a:rPr>
              <a:t>COMPILATION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04288"/>
            <a:ext cx="2697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AEB7C2"/>
                </a:solidFill>
                <a:latin typeface="Montserrat"/>
              </a:rPr>
              <a:t>TypeScript strict typecheck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1828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3A221"/>
                </a:solidFill>
                <a:latin typeface="Montserrat"/>
              </a:rPr>
              <a:t>10/10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01952"/>
            <a:ext cx="2697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F7F5F0"/>
                </a:solidFill>
                <a:latin typeface="Montserrat"/>
              </a:rPr>
              <a:t>TEST FILES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04288"/>
            <a:ext cx="2697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AEB7C2"/>
                </a:solidFill>
                <a:latin typeface="Montserrat"/>
              </a:rPr>
              <a:t>97/97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39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49039"/>
            <a:ext cx="1828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B74D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76472"/>
            <a:ext cx="2697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F7F5F0"/>
                </a:solidFill>
                <a:latin typeface="Montserrat"/>
              </a:rPr>
              <a:t>TELCOS TESTED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78807"/>
            <a:ext cx="2697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AEB7C2"/>
                </a:solidFill>
                <a:latin typeface="Montserrat"/>
              </a:rPr>
              <a:t>Vodacom + Airtel sandbox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39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39"/>
            <a:ext cx="1828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FB74D"/>
                </a:solidFill>
                <a:latin typeface="Montserrat"/>
              </a:rPr>
              <a:t>RFC-9421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76472"/>
            <a:ext cx="2697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F7F5F0"/>
                </a:solidFill>
                <a:latin typeface="Montserrat"/>
              </a:rPr>
              <a:t>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178807"/>
            <a:ext cx="2697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AEB7C2"/>
                </a:solidFill>
                <a:latin typeface="Montserrat"/>
              </a:rPr>
              <a:t>Digest and signature calculation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532120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5156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7F5F0"/>
                </a:solidFill>
                <a:latin typeface="Montserrat"/>
              </a:rPr>
              <a:t>SANDBOX CHECKOUTS: 130,000 TZS  •  VODACOM +255754123456  •  AIRTEL 255683456789</a:t>
            </a:r>
          </a:p>
        </p:txBody>
      </p:sp>
      <p:pic>
        <p:nvPicPr>
          <p:cNvPr id="27" name="Picture 26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28600"/>
            <a:ext cx="4572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AEB7C2"/>
                </a:solidFill>
                <a:latin typeface="Montserrat"/>
              </a:rPr>
              <a:t>REIGNOVA  /  PAYMENT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0116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F3A221"/>
                </a:solidFill>
                <a:latin typeface="Montserrat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7F5F0"/>
                </a:solidFill>
                <a:latin typeface="Montserrat"/>
              </a:rPr>
              <a:t>Strategic Roadmap &amp; Executive Next Steps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303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AEB7C2"/>
                </a:solidFill>
                <a:latin typeface="Montserrat"/>
              </a:rPr>
              <a:t>Reignova Technologies  •  Confidential  •  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0">
                <a:solidFill>
                  <a:srgbClr val="AEB7C2"/>
                </a:solidFill>
                <a:latin typeface="Montserrat"/>
              </a:rPr>
              <a:t>10/10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01568" cy="214884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0195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0972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70048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3A221"/>
                </a:solidFill>
                <a:latin typeface="Montserrat"/>
              </a:rP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28803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AEB7C2"/>
                </a:solidFill>
                <a:latin typeface="Montserrat"/>
              </a:rPr>
              <a:t>Core infrastructure • Tanzania mobile money • Hosted Checkout • Admin Portal • RFC-9421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3401568" cy="2148840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90195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01952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331720"/>
            <a:ext cx="10972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70048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FB74D"/>
                </a:solidFill>
                <a:latin typeface="Montserrat"/>
              </a:rP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27248"/>
            <a:ext cx="28803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AEB7C2"/>
                </a:solidFill>
                <a:latin typeface="Montserrat"/>
              </a:rPr>
              <a:t>Kenya • Uganda • Rwanda • Zambia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645920"/>
            <a:ext cx="3401568" cy="2148840"/>
          </a:xfrm>
          <a:prstGeom prst="roundRect">
            <a:avLst>
              <a:gd name="adj" fmla="val 8000"/>
            </a:avLst>
          </a:prstGeom>
          <a:solidFill>
            <a:srgbClr val="1E2C3B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66759" y="190195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3A221"/>
          </a:solidFill>
          <a:ln>
            <a:solidFill>
              <a:srgbClr val="F3A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1901952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0F1A25"/>
                </a:solidFill>
                <a:latin typeface="Montserrat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2331720"/>
            <a:ext cx="10972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7F5F0"/>
                </a:solidFill>
                <a:latin typeface="Montserrat"/>
              </a:rPr>
              <a:t>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2670048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FB74D"/>
                </a:solidFill>
                <a:latin typeface="Montserrat"/>
              </a:rPr>
              <a:t>EXTENSION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3127248"/>
            <a:ext cx="28803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AEB7C2"/>
                </a:solidFill>
                <a:latin typeface="Montserrat"/>
              </a:rPr>
              <a:t>Visa/Mastercard aggregation • AI-assisted fraud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51960"/>
            <a:ext cx="10954512" cy="11430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>
            <a:solidFill>
              <a:srgbClr val="303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98848"/>
            <a:ext cx="24688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3A221"/>
                </a:solidFill>
                <a:latin typeface="Montserrat"/>
              </a:rPr>
              <a:t>EXECUTIVE ACTION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28032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7F5F0"/>
                </a:solidFill>
                <a:latin typeface="Montserrat"/>
              </a:rPr>
              <a:t>01  Authorize production deployment to AWS / cloud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828032"/>
            <a:ext cx="48463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7F5F0"/>
                </a:solidFill>
                <a:latin typeface="Montserrat"/>
              </a:rPr>
              <a:t>02  Initiate ReignovaEvents integration with Hosted Checkout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897880"/>
            <a:ext cx="4937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3A221"/>
                </a:solidFill>
                <a:latin typeface="Montserrat"/>
              </a:rPr>
              <a:t>READY FOR THE NEXT DEPLOYMENT GATE</a:t>
            </a:r>
          </a:p>
        </p:txBody>
      </p:sp>
      <p:pic>
        <p:nvPicPr>
          <p:cNvPr id="32" name="Picture 31" descr="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"/>
            <a:ext cx="21945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623620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EB7C2"/>
                </a:solidFill>
                <a:latin typeface="Montserrat"/>
              </a:rPr>
              <a:t>reignovatechnologies.com   •   +255 650 700 000   •   info@reignovatechnologies.com   •   Kida Plaza, Mwai Kibaki Road, Dar es Salaam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ignova">
      <a:dk1>
        <a:srgbClr val="0F1A25"/>
      </a:dk1>
      <a:lt1>
        <a:srgbClr val="FFFFFF"/>
      </a:lt1>
      <a:dk2>
        <a:srgbClr val="16212F"/>
      </a:dk2>
      <a:lt2>
        <a:srgbClr val="F7F5F0"/>
      </a:lt2>
      <a:accent1>
        <a:srgbClr val="F3A221"/>
      </a:accent1>
      <a:accent2>
        <a:srgbClr val="FFB74D"/>
      </a:accent2>
      <a:accent3>
        <a:srgbClr val="FCE4BE"/>
      </a:accent3>
      <a:accent4>
        <a:srgbClr val="1E2C3B"/>
      </a:accent4>
      <a:accent5>
        <a:srgbClr val="303B47"/>
      </a:accent5>
      <a:accent6>
        <a:srgbClr val="AEB7C2"/>
      </a:accent6>
      <a:hlink>
        <a:srgbClr val="F3A221"/>
      </a:hlink>
      <a:folHlink>
        <a:srgbClr val="FFB74D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